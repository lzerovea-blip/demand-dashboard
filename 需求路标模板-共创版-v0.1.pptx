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a02b909b994e03" /><Relationship Type="http://schemas.openxmlformats.org/officeDocument/2006/relationships/extended-properties" Target="/docProps/app.xml" Id="R7e53c31debf2461c" /><Relationship Type="http://schemas.openxmlformats.org/officeDocument/2006/relationships/officeDocument" Target="/ppt/presentation.xml" Id="R8b5f4e6d94c8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984f02b2084762"/>
  </p:sldMasterIdLst>
  <p:notesMasterIdLst>
    <p:notesMasterId xmlns:r="http://schemas.openxmlformats.org/officeDocument/2006/relationships" r:id="R282e01c40ce24133"/>
  </p:notesMasterIdLst>
  <p:sldIdLst>
    <p:sldId xmlns:r="http://schemas.openxmlformats.org/officeDocument/2006/relationships" id="256" r:id="Rd7b38b822afb4bcc"/>
    <p:sldId xmlns:r="http://schemas.openxmlformats.org/officeDocument/2006/relationships" id="257" r:id="Rc555c353ef4a4317"/>
    <p:sldId xmlns:r="http://schemas.openxmlformats.org/officeDocument/2006/relationships" id="258" r:id="R0458afd5815a4e47"/>
    <p:sldId xmlns:r="http://schemas.openxmlformats.org/officeDocument/2006/relationships" id="259" r:id="Rcc4b49bb3461456e"/>
    <p:sldId xmlns:r="http://schemas.openxmlformats.org/officeDocument/2006/relationships" id="260" r:id="R0f91385295e546ce"/>
    <p:sldId xmlns:r="http://schemas.openxmlformats.org/officeDocument/2006/relationships" id="261" r:id="R23152064217048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1ef2f4b4a44780" /><Relationship Type="http://schemas.openxmlformats.org/officeDocument/2006/relationships/slideMaster" Target="/ppt/slideMasters/slideMaster1.xml" Id="R86984f02b2084762" /><Relationship Type="http://schemas.openxmlformats.org/officeDocument/2006/relationships/notesMaster" Target="/ppt/notesMasters/notesMaster1.xml" Id="R282e01c40ce24133" /><Relationship Type="http://schemas.openxmlformats.org/officeDocument/2006/relationships/presProps" Target="/ppt/presProps.xml" Id="R6d72e296d9644098" /><Relationship Type="http://schemas.openxmlformats.org/officeDocument/2006/relationships/tableStyles" Target="/ppt/tableStyles.xml" Id="R3955a01dbdbb4d2f" /><Relationship Type="http://schemas.openxmlformats.org/officeDocument/2006/relationships/slide" Target="/ppt/slides/slide1.xml" Id="Rd7b38b822afb4bcc" /><Relationship Type="http://schemas.openxmlformats.org/officeDocument/2006/relationships/slide" Target="/ppt/slides/slide2.xml" Id="Rc555c353ef4a4317" /><Relationship Type="http://schemas.openxmlformats.org/officeDocument/2006/relationships/slide" Target="/ppt/slides/slide3.xml" Id="R0458afd5815a4e47" /><Relationship Type="http://schemas.openxmlformats.org/officeDocument/2006/relationships/slide" Target="/ppt/slides/slide4.xml" Id="Rcc4b49bb3461456e" /><Relationship Type="http://schemas.openxmlformats.org/officeDocument/2006/relationships/slide" Target="/ppt/slides/slide5.xml" Id="R0f91385295e546ce" /><Relationship Type="http://schemas.openxmlformats.org/officeDocument/2006/relationships/slide" Target="/ppt/slides/slide6.xml" Id="R23152064217048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71d602d79345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dd686687294625" /><Relationship Type="http://schemas.openxmlformats.org/officeDocument/2006/relationships/notesMaster" Target="/ppt/notesMasters/notesMaster1.xml" Id="Rda6cdb6907ca43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40e0e81b0d422f" /><Relationship Type="http://schemas.openxmlformats.org/officeDocument/2006/relationships/notesMaster" Target="/ppt/notesMasters/notesMaster1.xml" Id="R48d1643de24045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796460fc3645cb" /><Relationship Type="http://schemas.openxmlformats.org/officeDocument/2006/relationships/notesMaster" Target="/ppt/notesMasters/notesMaster1.xml" Id="Ra7b9c604357047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83fa354ac44e95" /><Relationship Type="http://schemas.openxmlformats.org/officeDocument/2006/relationships/notesMaster" Target="/ppt/notesMasters/notesMaster1.xml" Id="R7433907a15604b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e07d57a8224d99" /><Relationship Type="http://schemas.openxmlformats.org/officeDocument/2006/relationships/notesMaster" Target="/ppt/notesMasters/notesMaster1.xml" Id="R61e7aad395d84e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c61fb24d5a4aaa" /><Relationship Type="http://schemas.openxmlformats.org/officeDocument/2006/relationships/notesMaster" Target="/ppt/notesMasters/notesMaster1.xml" Id="R3ee38a988f6941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5a17af94a4c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667f4a8d8b437d" /><Relationship Type="http://schemas.openxmlformats.org/officeDocument/2006/relationships/slideLayout" Target="/ppt/slideLayouts/slideLayout1.xml" Id="R5485f0a638d342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5f0a638d342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20439a79e48d2" /><Relationship Type="http://schemas.openxmlformats.org/officeDocument/2006/relationships/notesSlide" Target="/ppt/notesSlides/notesSlide1.xml" Id="R77f974fcd1a447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3cfbec06c4cd7" /><Relationship Type="http://schemas.openxmlformats.org/officeDocument/2006/relationships/notesSlide" Target="/ppt/notesSlides/notesSlide2.xml" Id="Rae512ff2e19146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34c0dbbab43b0" /><Relationship Type="http://schemas.openxmlformats.org/officeDocument/2006/relationships/notesSlide" Target="/ppt/notesSlides/notesSlide3.xml" Id="R9bf2a81b3c6343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a52e5edc54051" /><Relationship Type="http://schemas.openxmlformats.org/officeDocument/2006/relationships/notesSlide" Target="/ppt/notesSlides/notesSlide4.xml" Id="R3277c3825df44d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92b35a2fb4cd4" /><Relationship Type="http://schemas.openxmlformats.org/officeDocument/2006/relationships/notesSlide" Target="/ppt/notesSlides/notesSlide5.xml" Id="Rcd5ef97b02994b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1a2de0f6f4c18" /><Relationship Type="http://schemas.openxmlformats.org/officeDocument/2006/relationships/notesSlide" Target="/ppt/notesSlides/notesSlide6.xml" Id="R9e0fbd362e564f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1">
            <a:extLst xmlns:a="http://schemas.openxmlformats.org/drawingml/2006/main">
              <a:ext uri="{FF2B5EF4-FFF2-40B4-BE49-F238E27FC236}">
                <a16:creationId xmlns:a16="http://schemas.microsoft.com/office/drawing/2014/main" id="{2251152D-B78C-44A4-BBD3-5BF8BAFA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FC0CB"/>
                </a:solidFill>
              </a:defRPr>
            </a:pPr>
            <a:r>
              <a:rPr sz="975" b="1" i="0">
                <a:solidFill>
                  <a:srgbClr val="AFC0CB"/>
                </a:solidFill>
              </a:rPr>
              <a:t>需求路标工作台</a:t>
            </a:r>
          </a:p>
        </p:txBody>
      </p:sp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37DD82E9-6F62-45D0-B7C0-3FED7111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FC0CB"/>
                </a:solidFill>
              </a:defRPr>
            </a:pPr>
            <a:r>
              <a:rPr sz="975" b="1" i="0">
                <a:solidFill>
                  <a:srgbClr val="AFC0CB"/>
                </a:solidFill>
              </a:rPr>
              <a:t>模板共创版 v0.1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B14FE97D-6430-4A97-AF89-5A14845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95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3F4C2-B480-4CF0-B9AC-3454DBF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E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60D7CC7-3B42-43A4-96C9-11053EA7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6858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</a:defRPr>
            </a:pPr>
            <a:r>
              <a:rPr sz="4125" b="1" i="0">
                <a:solidFill>
                  <a:srgbClr val="FFFFFF"/>
                </a:solidFill>
              </a:rPr>
              <a:t>运动健康</a:t>
            </a:r>
          </a:p>
          <a:p xmlns:a="http://schemas.openxmlformats.org/drawingml/2006/main">
            <a:pPr algn="l">
              <a:defRPr sz="4125" b="1" i="0">
                <a:solidFill>
                  <a:srgbClr val="FFFFFF"/>
                </a:solidFill>
              </a:defRPr>
            </a:pPr>
            <a:r>
              <a:rPr sz="4125" b="1" i="0">
                <a:solidFill>
                  <a:srgbClr val="FFFFFF"/>
                </a:solidFill>
              </a:rPr>
              <a:t>需求路标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6E39909-31BA-4E19-8229-6D460D54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766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8C6CE"/>
                </a:solidFill>
              </a:defRPr>
            </a:pPr>
            <a:r>
              <a:rPr sz="1500" b="0" i="0">
                <a:solidFill>
                  <a:srgbClr val="B8C6CE"/>
                </a:solidFill>
              </a:rPr>
              <a:t>从本地需求池，自动生成可汇报、可编辑、可复用的 PowerPoint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1A8F7-E8A7-43EC-AF88-F97280AA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57650"/>
            <a:ext cx="1085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9FA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0A978"/>
                </a:solidFill>
              </a:defRPr>
            </a:pPr>
            <a:r>
              <a:rPr sz="975" b="1" i="0">
                <a:solidFill>
                  <a:srgbClr val="30A978"/>
                </a:solidFill>
              </a:rPr>
              <a:t>离线处理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BF883-B6D0-4ECC-9412-9409ED66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057650"/>
            <a:ext cx="1257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47CF0"/>
                </a:solidFill>
              </a:defRPr>
            </a:pPr>
            <a:r>
              <a:rPr sz="975" b="1" i="0">
                <a:solidFill>
                  <a:srgbClr val="247CF0"/>
                </a:solidFill>
              </a:rPr>
              <a:t>结构化汇总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CC759-9F37-4855-A16A-4FB2DE39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57650"/>
            <a:ext cx="1866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EE6B56"/>
                </a:solidFill>
              </a:defRPr>
            </a:pPr>
            <a:r>
              <a:rPr sz="975" b="1" i="0">
                <a:solidFill>
                  <a:srgbClr val="EE6B56"/>
                </a:solidFill>
              </a:rPr>
              <a:t>模板确认后固定输出</a:t>
            </a:r>
          </a:p>
        </p:txBody>
      </p:sp>
      <p:sp>
        <p:nvSpPr>
          <p:cNvPr id="10" name="cover-roadmap-preview">
            <a:extLst xmlns:a="http://schemas.openxmlformats.org/drawingml/2006/main">
              <a:ext uri="{FF2B5EF4-FFF2-40B4-BE49-F238E27FC236}">
                <a16:creationId xmlns:a16="http://schemas.microsoft.com/office/drawing/2014/main" id="{7017EF47-D1BA-4A18-A4B6-434D5B64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85875"/>
            <a:ext cx="3238500" cy="40767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21313D"/>
          </a:solidFill>
          <a:ln xmlns:a="http://schemas.openxmlformats.org/drawingml/2006/main" w="9525">
            <a:solidFill>
              <a:srgbClr val="3346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698EB-EB5C-4077-8243-1ADC255A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619250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5E8B8"/>
                </a:solidFill>
              </a:defRPr>
            </a:pPr>
            <a:r>
              <a:rPr sz="1200" b="1" i="0">
                <a:solidFill>
                  <a:srgbClr val="85E8B8"/>
                </a:solidFill>
              </a:rPr>
              <a:t>2027 H1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A4FF8-EAB7-44F7-B4F2-A1DC7F96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62150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健康路标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B594F-9FFF-4B21-B80D-864186CE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119C4-F9C9-4C3A-9C73-174B8B64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384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6C5CF"/>
                </a:solidFill>
              </a:defRPr>
            </a:pPr>
            <a:r>
              <a:rPr sz="975" b="1" i="0">
                <a:solidFill>
                  <a:srgbClr val="B6C5CF"/>
                </a:solidFill>
              </a:rPr>
              <a:t>基础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E6C34-EADE-4FE9-B483-F47CAA08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71775"/>
            <a:ext cx="1704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12F72-C145-4B5B-BBFE-954B824C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57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69802-059B-4061-9BA9-541463F2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528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6C5CF"/>
                </a:solidFill>
              </a:defRPr>
            </a:pPr>
            <a:r>
              <a:rPr sz="975" b="1" i="0">
                <a:solidFill>
                  <a:srgbClr val="B6C5CF"/>
                </a:solidFill>
              </a:rPr>
              <a:t>进阶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F1ED7-2BB5-4F89-93FD-ADC2FBC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86150"/>
            <a:ext cx="1704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77F58-3E7C-44FE-A2A9-65DE679E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5B4DE-B223-46FF-B67F-711609F7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67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6C5CF"/>
                </a:solidFill>
              </a:defRPr>
            </a:pPr>
            <a:r>
              <a:rPr sz="975" b="1" i="0">
                <a:solidFill>
                  <a:srgbClr val="B6C5CF"/>
                </a:solidFill>
              </a:rPr>
              <a:t>高阶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73499-7F38-48F1-8AE0-405091D2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00525"/>
            <a:ext cx="1704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9F48D-D87C-4363-8DA6-63C8F75D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43175"/>
            <a:ext cx="11049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C4169-5D55-42A9-8FDC-5ED636DB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384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01820"/>
                </a:solidFill>
              </a:defRPr>
            </a:pPr>
            <a:r>
              <a:rPr sz="1050" b="1" i="0">
                <a:solidFill>
                  <a:srgbClr val="101820"/>
                </a:solidFill>
              </a:rPr>
              <a:t>睡眠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F88DB-52CE-4F20-B9AA-2A761FD7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0808B"/>
                </a:solidFill>
              </a:defRPr>
            </a:pPr>
            <a:r>
              <a:rPr sz="750" b="0" i="0">
                <a:solidFill>
                  <a:srgbClr val="70808B"/>
                </a:solidFill>
              </a:rPr>
              <a:t>2 人月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B49AB-D8AC-4F11-AE23-F950EC5B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05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1828D"/>
                </a:solidFill>
              </a:defRPr>
            </a:pPr>
            <a:r>
              <a:rPr sz="900" b="0" i="0">
                <a:solidFill>
                  <a:srgbClr val="71828D"/>
                </a:solidFill>
              </a:rPr>
              <a:t>共创日期 · 2026.08.19</a:t>
            </a:r>
          </a:p>
        </p:txBody>
      </p:sp>
    </p:spTree>
    <p:extLst>
      <p:ext uri="{BB962C8B-B14F-4D97-AF65-F5344CB8AC3E}">
        <p14:creationId xmlns:p14="http://schemas.microsoft.com/office/powerpoint/2010/main" val="531947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brand-2">
            <a:extLst xmlns:a="http://schemas.openxmlformats.org/drawingml/2006/main">
              <a:ext uri="{FF2B5EF4-FFF2-40B4-BE49-F238E27FC236}">
                <a16:creationId xmlns:a16="http://schemas.microsoft.com/office/drawing/2014/main" id="{56F23C40-0AFD-4C75-A96C-6FFF85B9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需求路标工作台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91218014-F9D7-4358-B111-C3212F36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汇总分析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4F8484D5-3EEA-4717-BF5E-B824774E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95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02</a:t>
            </a:r>
          </a:p>
        </p:txBody>
      </p:sp>
      <p:sp>
        <p:nvSpPr>
          <p:cNvPr id="4" name="eyebrow-一页看清投入、结构和节奏">
            <a:extLst xmlns:a="http://schemas.openxmlformats.org/drawingml/2006/main">
              <a:ext uri="{FF2B5EF4-FFF2-40B4-BE49-F238E27FC236}">
                <a16:creationId xmlns:a16="http://schemas.microsoft.com/office/drawing/2014/main" id="{AF2E39E7-3112-4E33-A010-5CE96A82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A978"/>
                </a:solidFill>
              </a:defRPr>
            </a:pPr>
            <a:r>
              <a:rPr sz="975" b="1" i="0">
                <a:solidFill>
                  <a:srgbClr val="30A978"/>
                </a:solidFill>
              </a:rPr>
              <a:t>SUMMARY</a:t>
            </a:r>
          </a:p>
        </p:txBody>
      </p:sp>
      <p:sp>
        <p:nvSpPr>
          <p:cNvPr id="5" name="title-一页看清投入、结构和节奏">
            <a:extLst xmlns:a="http://schemas.openxmlformats.org/drawingml/2006/main">
              <a:ext uri="{FF2B5EF4-FFF2-40B4-BE49-F238E27FC236}">
                <a16:creationId xmlns:a16="http://schemas.microsoft.com/office/drawing/2014/main" id="{C3F795AB-395E-43EB-9666-CF3D8426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一页看清投入、结构和节奏</a:t>
            </a:r>
          </a:p>
        </p:txBody>
      </p:sp>
      <p:sp>
        <p:nvSpPr>
          <p:cNvPr id="6" name="subtitle-一页看清投入、结构和节奏">
            <a:extLst xmlns:a="http://schemas.openxmlformats.org/drawingml/2006/main">
              <a:ext uri="{FF2B5EF4-FFF2-40B4-BE49-F238E27FC236}">
                <a16:creationId xmlns:a16="http://schemas.microsoft.com/office/drawing/2014/main" id="{D0A2EE7E-B9B9-4215-866D-8B4DB80A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808B"/>
                </a:solidFill>
              </a:defRPr>
            </a:pPr>
            <a:r>
              <a:rPr sz="1275" b="0" i="0">
                <a:solidFill>
                  <a:srgbClr val="70808B"/>
                </a:solidFill>
              </a:rPr>
              <a:t>示例采用当前有效需求：社交时差、体动；测试数据不计入模板样例。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E6EB8-9E48-4D66-83B0-CCAAE829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808B"/>
                </a:solidFill>
              </a:defRPr>
            </a:pPr>
            <a:r>
              <a:rPr sz="1050" b="1" i="0">
                <a:solidFill>
                  <a:srgbClr val="70808B"/>
                </a:solidFill>
              </a:rPr>
              <a:t>需求数量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75436-7222-48D5-B11C-E020C13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01820"/>
                </a:solidFill>
              </a:defRPr>
            </a:pPr>
            <a:r>
              <a:rPr sz="3375" b="1" i="0">
                <a:solidFill>
                  <a:srgbClr val="101820"/>
                </a:solidFill>
              </a:rPr>
              <a:t>2 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D8498-4249-42B4-B6EE-AF62A58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FC618-A700-4516-A184-7CCF40B6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431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808B"/>
                </a:solidFill>
              </a:defRPr>
            </a:pPr>
            <a:r>
              <a:rPr sz="1050" b="1" i="0">
                <a:solidFill>
                  <a:srgbClr val="70808B"/>
                </a:solidFill>
              </a:rPr>
              <a:t>工作量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0A6D4-0665-4143-B28B-3D095406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384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01820"/>
                </a:solidFill>
              </a:defRPr>
            </a:pPr>
            <a:r>
              <a:rPr sz="3375" b="1" i="0">
                <a:solidFill>
                  <a:srgbClr val="101820"/>
                </a:solidFill>
              </a:rPr>
              <a:t>2 人月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90077-6347-4002-AB93-1EA2B7FB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48075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A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1B5D4-C96E-4AD3-89D5-16CE690E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431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808B"/>
                </a:solidFill>
              </a:defRPr>
            </a:pPr>
            <a:r>
              <a:rPr sz="1050" b="1" i="0">
                <a:solidFill>
                  <a:srgbClr val="70808B"/>
                </a:solidFill>
              </a:rPr>
              <a:t>健康来源占比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B8A7-B924-48C7-BE92-30206C62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01820"/>
                </a:solidFill>
              </a:defRPr>
            </a:pPr>
            <a:r>
              <a:rPr sz="3375" b="1" i="0">
                <a:solidFill>
                  <a:srgbClr val="101820"/>
                </a:solidFill>
              </a:rPr>
              <a:t>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44D22-0D7F-4F21-9C84-AC2190D3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48075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148E1-95A3-424C-82C7-0F9802C7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431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808B"/>
                </a:solidFill>
              </a:defRPr>
            </a:pPr>
            <a:r>
              <a:rPr sz="1050" b="1" i="0">
                <a:solidFill>
                  <a:srgbClr val="70808B"/>
                </a:solidFill>
              </a:rPr>
              <a:t>体验优化占比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03F8A-2976-4838-9748-908459EB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384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01820"/>
                </a:solidFill>
              </a:defRPr>
            </a:pPr>
            <a:r>
              <a:rPr sz="3375" b="1" i="0">
                <a:solidFill>
                  <a:srgbClr val="101820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F000A-0EED-42E5-8D68-6E45C264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48075"/>
            <a:ext cx="226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09668-FA39-413C-81EE-994D8435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820"/>
                </a:solidFill>
              </a:defRPr>
            </a:pPr>
            <a:r>
              <a:rPr sz="1200" b="1" i="0">
                <a:solidFill>
                  <a:srgbClr val="101820"/>
                </a:solidFill>
              </a:rPr>
              <a:t>上线节奏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5FD41-C2D5-40D4-95AE-E5E39C17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985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21DEB-0D9A-43B3-B9FA-F5432179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E0C1C-627C-401B-902B-F35D21D2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596C3-BA78-440A-940D-FA48659C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0808B"/>
                </a:solidFill>
              </a:defRPr>
            </a:pPr>
            <a:r>
              <a:rPr sz="975" b="0" i="0">
                <a:solidFill>
                  <a:srgbClr val="70808B"/>
                </a:solidFill>
              </a:rPr>
              <a:t>1月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7231B-AF5A-45C9-823B-59F231BA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911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8CAC7-A91B-4A67-8FAB-9A9098DD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911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0D2AE-43CA-4426-97C9-42469893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238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0808B"/>
                </a:solidFill>
              </a:defRPr>
            </a:pPr>
            <a:r>
              <a:rPr sz="975" b="0" i="0">
                <a:solidFill>
                  <a:srgbClr val="70808B"/>
                </a:solidFill>
              </a:rPr>
              <a:t>2月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4FA845-1575-4803-BF01-2AC265F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634B19-BA5D-419D-AC76-8EFA634E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38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3月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E542D4-DC4C-4F73-AFF6-D1FBE2F1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911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1C5483-7BD7-4C49-A5C6-D3D11F20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911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35626-D0D4-478E-A5E1-E44B7896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38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0808B"/>
                </a:solidFill>
              </a:defRPr>
            </a:pPr>
            <a:r>
              <a:rPr sz="975" b="0" i="0">
                <a:solidFill>
                  <a:srgbClr val="70808B"/>
                </a:solidFill>
              </a:rPr>
              <a:t>4月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B538F-1FD8-4CF7-87E4-3076DB62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911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26BB6E-5AB2-4D4B-9669-F6074283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911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9D3728-435E-4124-BB95-663A293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38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0808B"/>
                </a:solidFill>
              </a:defRPr>
            </a:pPr>
            <a:r>
              <a:rPr sz="975" b="0" i="0">
                <a:solidFill>
                  <a:srgbClr val="70808B"/>
                </a:solidFill>
              </a:rPr>
              <a:t>5月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293A0C-5BA8-4F8A-B731-DA23BC3F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49911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E5A1DA-1FB3-4980-909A-73DF288B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49911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C207E4-34DB-4235-B756-78EEDD1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238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70808B"/>
                </a:solidFill>
              </a:defRPr>
            </a:pPr>
            <a:r>
              <a:rPr sz="975" b="0" i="0">
                <a:solidFill>
                  <a:srgbClr val="70808B"/>
                </a:solidFill>
              </a:rPr>
              <a:t>6月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6CB020-34E0-4386-B619-7FF127B1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543425"/>
            <a:ext cx="20002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 条需求 · 2 人月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8A6C50-4EF7-4ABF-88D3-AC339634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808B"/>
                </a:solidFill>
              </a:defRPr>
            </a:pPr>
            <a:r>
              <a:rPr sz="1050" b="0" i="0">
                <a:solidFill>
                  <a:srgbClr val="70808B"/>
                </a:solidFill>
              </a:rPr>
              <a:t>汇总页建议固定保留：数量、工作量、来源、分类、月份节奏</a:t>
            </a:r>
          </a:p>
        </p:txBody>
      </p:sp>
    </p:spTree>
    <p:extLst>
      <p:ext uri="{BB962C8B-B14F-4D97-AF65-F5344CB8AC3E}">
        <p14:creationId xmlns:p14="http://schemas.microsoft.com/office/powerpoint/2010/main" val="98396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brand-3">
            <a:extLst xmlns:a="http://schemas.openxmlformats.org/drawingml/2006/main">
              <a:ext uri="{FF2B5EF4-FFF2-40B4-BE49-F238E27FC236}">
                <a16:creationId xmlns:a16="http://schemas.microsoft.com/office/drawing/2014/main" id="{7B0E754F-2692-4542-83D7-68D7B24C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需求路标工作台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F323FB22-952F-4767-92A5-6C78174A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健康路标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6FB49E69-55A6-4763-A026-90E2E34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95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03</a:t>
            </a:r>
          </a:p>
        </p:txBody>
      </p:sp>
      <p:sp>
        <p:nvSpPr>
          <p:cNvPr id="4" name="eyebrow-健康需求集中在 2027 年 3 月的基础泳道">
            <a:extLst xmlns:a="http://schemas.openxmlformats.org/drawingml/2006/main">
              <a:ext uri="{FF2B5EF4-FFF2-40B4-BE49-F238E27FC236}">
                <a16:creationId xmlns:a16="http://schemas.microsoft.com/office/drawing/2014/main" id="{03067768-432C-4F7D-9DBA-4A5E1C36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A978"/>
                </a:solidFill>
              </a:defRPr>
            </a:pPr>
            <a:r>
              <a:rPr sz="975" b="1" i="0">
                <a:solidFill>
                  <a:srgbClr val="30A978"/>
                </a:solidFill>
              </a:rPr>
              <a:t>HEALTH ROADMAP</a:t>
            </a:r>
          </a:p>
        </p:txBody>
      </p:sp>
      <p:sp>
        <p:nvSpPr>
          <p:cNvPr id="5" name="title-健康需求集中在 2027 年 3 月的基础泳道">
            <a:extLst xmlns:a="http://schemas.openxmlformats.org/drawingml/2006/main">
              <a:ext uri="{FF2B5EF4-FFF2-40B4-BE49-F238E27FC236}">
                <a16:creationId xmlns:a16="http://schemas.microsoft.com/office/drawing/2014/main" id="{273EF175-01F5-4BC5-93D4-7CD30134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健康需求集中在 2027 年 3 月的基础泳道</a:t>
            </a:r>
          </a:p>
        </p:txBody>
      </p:sp>
      <p:sp>
        <p:nvSpPr>
          <p:cNvPr id="6" name="subtitle-健康需求集中在 2027 年 3 月的基础泳道">
            <a:extLst xmlns:a="http://schemas.openxmlformats.org/drawingml/2006/main">
              <a:ext uri="{FF2B5EF4-FFF2-40B4-BE49-F238E27FC236}">
                <a16:creationId xmlns:a16="http://schemas.microsoft.com/office/drawing/2014/main" id="{3DD507C8-6746-4BE5-84A8-4F26DC10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808B"/>
                </a:solidFill>
              </a:defRPr>
            </a:pPr>
            <a:r>
              <a:rPr sz="1275" b="0" i="0">
                <a:solidFill>
                  <a:srgbClr val="70808B"/>
                </a:solidFill>
              </a:rPr>
              <a:t>同领域、同来源、同上线年月自动合并为一张路标卡片。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F10E1-8420-41B5-8B26-36E54EE7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724025"/>
            <a:ext cx="1028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2 条需求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6C143-030D-4D11-81E1-32EA28EE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724025"/>
            <a:ext cx="9715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2 人月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DE3EA-BFF4-4E02-9313-FB6699BC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1820"/>
                </a:solidFill>
              </a:defRPr>
            </a:pPr>
            <a:r>
              <a:rPr sz="1275" b="1" i="0">
                <a:solidFill>
                  <a:srgbClr val="101820"/>
                </a:solidFill>
              </a:rPr>
              <a:t>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881EC-0156-4673-AC66-E06F75EE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085B5-C5EA-4A10-BA83-9A1728A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</a:defRPr>
            </a:pPr>
            <a:r>
              <a:rPr sz="1125" b="1" i="0">
                <a:solidFill>
                  <a:srgbClr val="101820"/>
                </a:solidFill>
              </a:rPr>
              <a:t>基础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2B1EAFBB-2E3C-4089-9858-EAC1C5E3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3460E-C04E-4E36-9623-B2AD1ADC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1月</a:t>
            </a:r>
          </a:p>
        </p:txBody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0A040087-021D-4F65-9369-6891A962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D040B-64CD-4D68-AA0E-67FFE13A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2月</a:t>
            </a:r>
          </a:p>
        </p:txBody>
      </p:sp>
      <p:sp>
        <p:nvSpPr>
          <p:cNvPr id="16" name="cell-0-2">
            <a:extLst xmlns:a="http://schemas.openxmlformats.org/drawingml/2006/main">
              <a:ext uri="{FF2B5EF4-FFF2-40B4-BE49-F238E27FC236}">
                <a16:creationId xmlns:a16="http://schemas.microsoft.com/office/drawing/2014/main" id="{25F94B05-4B81-425A-A4ED-B35C337A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506B0-F076-4EF9-BC58-FB695176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3月</a:t>
            </a:r>
          </a:p>
        </p:txBody>
      </p:sp>
      <p:sp>
        <p:nvSpPr>
          <p:cNvPr id="18" name="cell-0-3">
            <a:extLst xmlns:a="http://schemas.openxmlformats.org/drawingml/2006/main">
              <a:ext uri="{FF2B5EF4-FFF2-40B4-BE49-F238E27FC236}">
                <a16:creationId xmlns:a16="http://schemas.microsoft.com/office/drawing/2014/main" id="{7304D7C7-B279-48AF-BBE3-3B8B8943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5D043-9AB6-48DC-BD41-E772356C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4月</a:t>
            </a:r>
          </a:p>
        </p:txBody>
      </p:sp>
      <p:sp>
        <p:nvSpPr>
          <p:cNvPr id="20" name="cell-0-4">
            <a:extLst xmlns:a="http://schemas.openxmlformats.org/drawingml/2006/main">
              <a:ext uri="{FF2B5EF4-FFF2-40B4-BE49-F238E27FC236}">
                <a16:creationId xmlns:a16="http://schemas.microsoft.com/office/drawing/2014/main" id="{B99C9B63-8C8C-4AD8-8211-F35FE5CB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830A70-44F0-4EB6-A162-AF4DCE6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5月</a:t>
            </a:r>
          </a:p>
        </p:txBody>
      </p:sp>
      <p:sp>
        <p:nvSpPr>
          <p:cNvPr id="22" name="cell-0-5">
            <a:extLst xmlns:a="http://schemas.openxmlformats.org/drawingml/2006/main">
              <a:ext uri="{FF2B5EF4-FFF2-40B4-BE49-F238E27FC236}">
                <a16:creationId xmlns:a16="http://schemas.microsoft.com/office/drawing/2014/main" id="{CB25AD1E-8F5F-48DB-9991-AB2B4BBF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E2616-B48F-43FF-AE09-15B6F68E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6月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E1B30-9C98-4094-9F3D-0848B164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C6289-AD18-4706-B750-75AEC7F3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</a:defRPr>
            </a:pPr>
            <a:r>
              <a:rPr sz="1125" b="1" i="0">
                <a:solidFill>
                  <a:srgbClr val="101820"/>
                </a:solidFill>
              </a:rPr>
              <a:t>进阶</a:t>
            </a:r>
          </a:p>
        </p:txBody>
      </p:sp>
      <p:sp>
        <p:nvSpPr>
          <p:cNvPr id="26" name="cell-1-0">
            <a:extLst xmlns:a="http://schemas.openxmlformats.org/drawingml/2006/main">
              <a:ext uri="{FF2B5EF4-FFF2-40B4-BE49-F238E27FC236}">
                <a16:creationId xmlns:a16="http://schemas.microsoft.com/office/drawing/2014/main" id="{E52A72F0-9F34-4227-8826-7AEC3197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7" name="cell-1-1">
            <a:extLst xmlns:a="http://schemas.openxmlformats.org/drawingml/2006/main">
              <a:ext uri="{FF2B5EF4-FFF2-40B4-BE49-F238E27FC236}">
                <a16:creationId xmlns:a16="http://schemas.microsoft.com/office/drawing/2014/main" id="{EDC861E7-9DCA-448E-BBE0-254E84B4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8" name="cell-1-2">
            <a:extLst xmlns:a="http://schemas.openxmlformats.org/drawingml/2006/main">
              <a:ext uri="{FF2B5EF4-FFF2-40B4-BE49-F238E27FC236}">
                <a16:creationId xmlns:a16="http://schemas.microsoft.com/office/drawing/2014/main" id="{3DE6BA2F-A23B-47AA-BA45-5FC71F2C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F980B709-2A64-46ED-9DD5-74E4BC78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0" name="cell-1-4">
            <a:extLst xmlns:a="http://schemas.openxmlformats.org/drawingml/2006/main">
              <a:ext uri="{FF2B5EF4-FFF2-40B4-BE49-F238E27FC236}">
                <a16:creationId xmlns:a16="http://schemas.microsoft.com/office/drawing/2014/main" id="{ABF6B303-5C4B-436B-92FF-C41A003E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1" name="cell-1-5">
            <a:extLst xmlns:a="http://schemas.openxmlformats.org/drawingml/2006/main">
              <a:ext uri="{FF2B5EF4-FFF2-40B4-BE49-F238E27FC236}">
                <a16:creationId xmlns:a16="http://schemas.microsoft.com/office/drawing/2014/main" id="{EA8AD4D8-7EB0-48F4-9D80-F5385717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154BD8-516B-420B-82BC-1CD0B1E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1B52CA-7C90-436A-9054-3F368914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</a:defRPr>
            </a:pPr>
            <a:r>
              <a:rPr sz="1125" b="1" i="0">
                <a:solidFill>
                  <a:srgbClr val="101820"/>
                </a:solidFill>
              </a:rPr>
              <a:t>高阶</a:t>
            </a:r>
          </a:p>
        </p:txBody>
      </p:sp>
      <p:sp>
        <p:nvSpPr>
          <p:cNvPr id="34" name="cell-2-0">
            <a:extLst xmlns:a="http://schemas.openxmlformats.org/drawingml/2006/main">
              <a:ext uri="{FF2B5EF4-FFF2-40B4-BE49-F238E27FC236}">
                <a16:creationId xmlns:a16="http://schemas.microsoft.com/office/drawing/2014/main" id="{1B365750-F76D-499F-975A-21453E63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5" name="cell-2-1">
            <a:extLst xmlns:a="http://schemas.openxmlformats.org/drawingml/2006/main">
              <a:ext uri="{FF2B5EF4-FFF2-40B4-BE49-F238E27FC236}">
                <a16:creationId xmlns:a16="http://schemas.microsoft.com/office/drawing/2014/main" id="{B6E0F802-2EF2-4929-BB1A-C25CC972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6" name="cell-2-2">
            <a:extLst xmlns:a="http://schemas.openxmlformats.org/drawingml/2006/main">
              <a:ext uri="{FF2B5EF4-FFF2-40B4-BE49-F238E27FC236}">
                <a16:creationId xmlns:a16="http://schemas.microsoft.com/office/drawing/2014/main" id="{57214CBD-C264-46CB-B39D-350A83DD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7" name="cell-2-3">
            <a:extLst xmlns:a="http://schemas.openxmlformats.org/drawingml/2006/main">
              <a:ext uri="{FF2B5EF4-FFF2-40B4-BE49-F238E27FC236}">
                <a16:creationId xmlns:a16="http://schemas.microsoft.com/office/drawing/2014/main" id="{2B5691EB-3390-4299-B994-AA34EE21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8" name="cell-2-4">
            <a:extLst xmlns:a="http://schemas.openxmlformats.org/drawingml/2006/main">
              <a:ext uri="{FF2B5EF4-FFF2-40B4-BE49-F238E27FC236}">
                <a16:creationId xmlns:a16="http://schemas.microsoft.com/office/drawing/2014/main" id="{7F0C6A37-7E3F-4A18-9290-71487287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9" name="cell-2-5">
            <a:extLst xmlns:a="http://schemas.openxmlformats.org/drawingml/2006/main">
              <a:ext uri="{FF2B5EF4-FFF2-40B4-BE49-F238E27FC236}">
                <a16:creationId xmlns:a16="http://schemas.microsoft.com/office/drawing/2014/main" id="{902D9A76-2298-4B51-B252-1A1D6F68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40" name="sleep-card">
            <a:extLst xmlns:a="http://schemas.openxmlformats.org/drawingml/2006/main">
              <a:ext uri="{FF2B5EF4-FFF2-40B4-BE49-F238E27FC236}">
                <a16:creationId xmlns:a16="http://schemas.microsoft.com/office/drawing/2014/main" id="{4EE85DEC-181D-4B69-BBE3-2F4943F2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05075"/>
            <a:ext cx="13525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1D08C3-9CC9-4CFC-82A9-F81E20F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BAC6EF-A03A-4961-80D1-8A0EE055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睡眠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CD6583-438E-4672-B63A-F0533DDD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57500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9C5CE"/>
                </a:solidFill>
              </a:defRPr>
            </a:pPr>
            <a:r>
              <a:rPr sz="825" b="0" i="0">
                <a:solidFill>
                  <a:srgbClr val="B9C5CE"/>
                </a:solidFill>
              </a:rPr>
              <a:t>2 条需求 · 2 人月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FE1C27-3EB6-46AD-B123-B09F6CC0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808B"/>
                </a:solidFill>
              </a:defRPr>
            </a:pPr>
            <a:r>
              <a:rPr sz="1050" b="0" i="0">
                <a:solidFill>
                  <a:srgbClr val="70808B"/>
                </a:solidFill>
              </a:rPr>
              <a:t>卡片标题、摘要可在工作台中单独编辑；详情页继续保留每条原始需求。</a:t>
            </a:r>
          </a:p>
        </p:txBody>
      </p:sp>
    </p:spTree>
    <p:extLst>
      <p:ext uri="{BB962C8B-B14F-4D97-AF65-F5344CB8AC3E}">
        <p14:creationId xmlns:p14="http://schemas.microsoft.com/office/powerpoint/2010/main" val="18947015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brand-4">
            <a:extLst xmlns:a="http://schemas.openxmlformats.org/drawingml/2006/main">
              <a:ext uri="{FF2B5EF4-FFF2-40B4-BE49-F238E27FC236}">
                <a16:creationId xmlns:a16="http://schemas.microsoft.com/office/drawing/2014/main" id="{A752C105-0C4A-48EB-BDBA-C6833E8A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需求路标工作台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AC694ADE-8F5A-401F-84B3-52FB502B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运动路标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694D4B49-96AA-4A5F-BAF4-0A5A242B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95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04</a:t>
            </a:r>
          </a:p>
        </p:txBody>
      </p:sp>
      <p:sp>
        <p:nvSpPr>
          <p:cNvPr id="4" name="eyebrow-当前区间暂无运动需求，版式仍保持完整">
            <a:extLst xmlns:a="http://schemas.openxmlformats.org/drawingml/2006/main">
              <a:ext uri="{FF2B5EF4-FFF2-40B4-BE49-F238E27FC236}">
                <a16:creationId xmlns:a16="http://schemas.microsoft.com/office/drawing/2014/main" id="{5BEBE7C8-C154-4CF2-939E-3905223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A978"/>
                </a:solidFill>
              </a:defRPr>
            </a:pPr>
            <a:r>
              <a:rPr sz="975" b="1" i="0">
                <a:solidFill>
                  <a:srgbClr val="30A978"/>
                </a:solidFill>
              </a:rPr>
              <a:t>SPORT ROADMAP</a:t>
            </a:r>
          </a:p>
        </p:txBody>
      </p:sp>
      <p:sp>
        <p:nvSpPr>
          <p:cNvPr id="5" name="title-当前区间暂无运动需求，版式仍保持完整">
            <a:extLst xmlns:a="http://schemas.openxmlformats.org/drawingml/2006/main">
              <a:ext uri="{FF2B5EF4-FFF2-40B4-BE49-F238E27FC236}">
                <a16:creationId xmlns:a16="http://schemas.microsoft.com/office/drawing/2014/main" id="{F170E3AA-D96D-4295-B885-149B5EB3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当前区间暂无运动需求，版式仍保持完整</a:t>
            </a:r>
          </a:p>
        </p:txBody>
      </p:sp>
      <p:sp>
        <p:nvSpPr>
          <p:cNvPr id="6" name="subtitle-当前区间暂无运动需求，版式仍保持完整">
            <a:extLst xmlns:a="http://schemas.openxmlformats.org/drawingml/2006/main">
              <a:ext uri="{FF2B5EF4-FFF2-40B4-BE49-F238E27FC236}">
                <a16:creationId xmlns:a16="http://schemas.microsoft.com/office/drawing/2014/main" id="{C0E23371-243D-49C6-8D7D-8D43C5A3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808B"/>
                </a:solidFill>
              </a:defRPr>
            </a:pPr>
            <a:r>
              <a:rPr sz="1275" b="0" i="0">
                <a:solidFill>
                  <a:srgbClr val="70808B"/>
                </a:solidFill>
              </a:rPr>
              <a:t>空泳道不删除，确保后续半年与跨版本输出的位置稳定。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5B412-070F-4A25-8EB8-7F43E9BF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1820"/>
                </a:solidFill>
              </a:defRPr>
            </a:pPr>
            <a:r>
              <a:rPr sz="1275" b="1" i="0">
                <a:solidFill>
                  <a:srgbClr val="101820"/>
                </a:solidFill>
              </a:rPr>
              <a:t>2027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7A06-8D34-4B66-BDA5-80105181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6162E-0F17-47A5-8791-6C292F6C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</a:defRPr>
            </a:pPr>
            <a:r>
              <a:rPr sz="1125" b="1" i="0">
                <a:solidFill>
                  <a:srgbClr val="101820"/>
                </a:solidFill>
              </a:rPr>
              <a:t>基础</a:t>
            </a:r>
          </a:p>
        </p:txBody>
      </p:sp>
      <p:sp>
        <p:nvSpPr>
          <p:cNvPr id="10" name="cell-0-0">
            <a:extLst xmlns:a="http://schemas.openxmlformats.org/drawingml/2006/main">
              <a:ext uri="{FF2B5EF4-FFF2-40B4-BE49-F238E27FC236}">
                <a16:creationId xmlns:a16="http://schemas.microsoft.com/office/drawing/2014/main" id="{1257ACBC-DDCC-44B3-90FC-84976C0A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ECDF7-F43E-459A-B124-9CBF72D6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1月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22CE12F8-5314-4B41-A575-A348A71F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2E261-9601-4A70-B81B-B619083A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2月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310E2834-F36A-48DA-AE6B-126C070B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66E33-62A5-422E-92EF-4A2D6B00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3月</a:t>
            </a:r>
          </a:p>
        </p:txBody>
      </p:sp>
      <p:sp>
        <p:nvSpPr>
          <p:cNvPr id="16" name="cell-0-3">
            <a:extLst xmlns:a="http://schemas.openxmlformats.org/drawingml/2006/main">
              <a:ext uri="{FF2B5EF4-FFF2-40B4-BE49-F238E27FC236}">
                <a16:creationId xmlns:a16="http://schemas.microsoft.com/office/drawing/2014/main" id="{7BCD2A4A-E9D8-4E8A-B224-D945C6E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D7922-9D27-48CB-80B2-DE9C09D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4月</a:t>
            </a:r>
          </a:p>
        </p:txBody>
      </p:sp>
      <p:sp>
        <p:nvSpPr>
          <p:cNvPr id="18" name="cell-0-4">
            <a:extLst xmlns:a="http://schemas.openxmlformats.org/drawingml/2006/main">
              <a:ext uri="{FF2B5EF4-FFF2-40B4-BE49-F238E27FC236}">
                <a16:creationId xmlns:a16="http://schemas.microsoft.com/office/drawing/2014/main" id="{F4CB6C64-CF46-41D9-84BB-C82611D0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17671-5C95-4558-9A15-41C22C6B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5月</a:t>
            </a:r>
          </a:p>
        </p:txBody>
      </p:sp>
      <p:sp>
        <p:nvSpPr>
          <p:cNvPr id="20" name="cell-0-5">
            <a:extLst xmlns:a="http://schemas.openxmlformats.org/drawingml/2006/main">
              <a:ext uri="{FF2B5EF4-FFF2-40B4-BE49-F238E27FC236}">
                <a16:creationId xmlns:a16="http://schemas.microsoft.com/office/drawing/2014/main" id="{C9CBDD57-E143-4E16-8B1B-0486D0B8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288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A7DDF-9FEB-4C97-BE44-E6877C9C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050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6月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73709-4BF2-48AD-BD80-7068B314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DE58F-3D92-450E-8105-823B0DF4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</a:defRPr>
            </a:pPr>
            <a:r>
              <a:rPr sz="1125" b="1" i="0">
                <a:solidFill>
                  <a:srgbClr val="101820"/>
                </a:solidFill>
              </a:rPr>
              <a:t>进阶</a:t>
            </a:r>
          </a:p>
        </p:txBody>
      </p:sp>
      <p:sp>
        <p:nvSpPr>
          <p:cNvPr id="24" name="cell-1-0">
            <a:extLst xmlns:a="http://schemas.openxmlformats.org/drawingml/2006/main">
              <a:ext uri="{FF2B5EF4-FFF2-40B4-BE49-F238E27FC236}">
                <a16:creationId xmlns:a16="http://schemas.microsoft.com/office/drawing/2014/main" id="{EDBEFC25-BD54-4318-83A0-513DE4C0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B2228900-B5C6-40A1-98E3-930F44B0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6" name="cell-1-2">
            <a:extLst xmlns:a="http://schemas.openxmlformats.org/drawingml/2006/main">
              <a:ext uri="{FF2B5EF4-FFF2-40B4-BE49-F238E27FC236}">
                <a16:creationId xmlns:a16="http://schemas.microsoft.com/office/drawing/2014/main" id="{2C218D00-A9BB-42CE-AD52-32387D32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7" name="cell-1-3">
            <a:extLst xmlns:a="http://schemas.openxmlformats.org/drawingml/2006/main">
              <a:ext uri="{FF2B5EF4-FFF2-40B4-BE49-F238E27FC236}">
                <a16:creationId xmlns:a16="http://schemas.microsoft.com/office/drawing/2014/main" id="{5EE566CC-9A1C-415E-9CEF-22E3E6A9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8" name="cell-1-4">
            <a:extLst xmlns:a="http://schemas.openxmlformats.org/drawingml/2006/main">
              <a:ext uri="{FF2B5EF4-FFF2-40B4-BE49-F238E27FC236}">
                <a16:creationId xmlns:a16="http://schemas.microsoft.com/office/drawing/2014/main" id="{9ACF6393-0742-4BF0-A5F8-F497008E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29" name="cell-1-5">
            <a:extLst xmlns:a="http://schemas.openxmlformats.org/drawingml/2006/main">
              <a:ext uri="{FF2B5EF4-FFF2-40B4-BE49-F238E27FC236}">
                <a16:creationId xmlns:a16="http://schemas.microsoft.com/office/drawing/2014/main" id="{FD644BF6-9964-459B-8CA4-AB3B2B20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3852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BA3B2F-3B68-4087-84FF-5F27076C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94C3E-F39D-4374-B003-206CE991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</a:defRPr>
            </a:pPr>
            <a:r>
              <a:rPr sz="1125" b="1" i="0">
                <a:solidFill>
                  <a:srgbClr val="101820"/>
                </a:solidFill>
              </a:rPr>
              <a:t>高阶</a:t>
            </a:r>
          </a:p>
        </p:txBody>
      </p:sp>
      <p:sp>
        <p:nvSpPr>
          <p:cNvPr id="32" name="cell-2-0">
            <a:extLst xmlns:a="http://schemas.openxmlformats.org/drawingml/2006/main">
              <a:ext uri="{FF2B5EF4-FFF2-40B4-BE49-F238E27FC236}">
                <a16:creationId xmlns:a16="http://schemas.microsoft.com/office/drawing/2014/main" id="{951A55CA-549F-4A78-A66F-5D31CC24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175CD4EC-B5D8-4345-86EE-015AE0F5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4" name="cell-2-2">
            <a:extLst xmlns:a="http://schemas.openxmlformats.org/drawingml/2006/main">
              <a:ext uri="{FF2B5EF4-FFF2-40B4-BE49-F238E27FC236}">
                <a16:creationId xmlns:a16="http://schemas.microsoft.com/office/drawing/2014/main" id="{4EC16123-739B-4559-980F-7B3007D1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5" name="cell-2-3">
            <a:extLst xmlns:a="http://schemas.openxmlformats.org/drawingml/2006/main">
              <a:ext uri="{FF2B5EF4-FFF2-40B4-BE49-F238E27FC236}">
                <a16:creationId xmlns:a16="http://schemas.microsoft.com/office/drawing/2014/main" id="{63F1441D-7317-48CA-8B80-AC80ECE5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6" name="cell-2-4">
            <a:extLst xmlns:a="http://schemas.openxmlformats.org/drawingml/2006/main">
              <a:ext uri="{FF2B5EF4-FFF2-40B4-BE49-F238E27FC236}">
                <a16:creationId xmlns:a16="http://schemas.microsoft.com/office/drawing/2014/main" id="{BAFBD0DD-2DB2-442B-9024-C460FEE5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7" name="cell-2-5">
            <a:extLst xmlns:a="http://schemas.openxmlformats.org/drawingml/2006/main">
              <a:ext uri="{FF2B5EF4-FFF2-40B4-BE49-F238E27FC236}">
                <a16:creationId xmlns:a16="http://schemas.microsoft.com/office/drawing/2014/main" id="{2D199D64-204A-46DF-A4C8-A9A324CA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48175"/>
            <a:ext cx="1485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74B402-ED37-4468-A7A2-79DB5172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76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0808B"/>
                </a:solidFill>
              </a:defRPr>
            </a:pPr>
            <a:r>
              <a:rPr sz="1725" b="1" i="0">
                <a:solidFill>
                  <a:srgbClr val="70808B"/>
                </a:solidFill>
              </a:rPr>
              <a:t>暂无运动需求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41F12E-D649-4146-915B-0137BBAA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683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0808B"/>
                </a:solidFill>
              </a:defRPr>
            </a:pPr>
            <a:r>
              <a:rPr sz="1125" b="0" i="0">
                <a:solidFill>
                  <a:srgbClr val="70808B"/>
                </a:solidFill>
              </a:rPr>
              <a:t>录入运动基础 / 进阶 / 高阶来源后，将自动落入对应月份泳道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177320-CF58-42E9-8194-BF5ADBEC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808B"/>
                </a:solidFill>
              </a:defRPr>
            </a:pPr>
            <a:r>
              <a:rPr sz="1050" b="0" i="0">
                <a:solidFill>
                  <a:srgbClr val="70808B"/>
                </a:solidFill>
              </a:rPr>
              <a:t>空状态也是模板的一部分：能明确表达“暂无”，而不是漏数或未生成。</a:t>
            </a:r>
          </a:p>
        </p:txBody>
      </p:sp>
    </p:spTree>
    <p:extLst>
      <p:ext uri="{BB962C8B-B14F-4D97-AF65-F5344CB8AC3E}">
        <p14:creationId xmlns:p14="http://schemas.microsoft.com/office/powerpoint/2010/main" val="1917297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rand-5">
            <a:extLst xmlns:a="http://schemas.openxmlformats.org/drawingml/2006/main">
              <a:ext uri="{FF2B5EF4-FFF2-40B4-BE49-F238E27FC236}">
                <a16:creationId xmlns:a16="http://schemas.microsoft.com/office/drawing/2014/main" id="{A77EE3FD-8521-4F50-A72C-94EF0F42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需求路标工作台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863BF99E-B272-4B97-9FAA-4B312FF9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领域详情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99ED2F77-6D6A-4BFC-8A1E-325D08E5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95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05</a:t>
            </a:r>
          </a:p>
        </p:txBody>
      </p:sp>
      <p:sp>
        <p:nvSpPr>
          <p:cNvPr id="4" name="eyebrow-睡眠领域包含 2 条可展开需求">
            <a:extLst xmlns:a="http://schemas.openxmlformats.org/drawingml/2006/main">
              <a:ext uri="{FF2B5EF4-FFF2-40B4-BE49-F238E27FC236}">
                <a16:creationId xmlns:a16="http://schemas.microsoft.com/office/drawing/2014/main" id="{A61AD029-1D91-4FB4-933F-5E83E4CA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A978"/>
                </a:solidFill>
              </a:defRPr>
            </a:pPr>
            <a:r>
              <a:rPr sz="975" b="1" i="0">
                <a:solidFill>
                  <a:srgbClr val="30A978"/>
                </a:solidFill>
              </a:rPr>
              <a:t>DOMAIN DETAIL</a:t>
            </a:r>
          </a:p>
        </p:txBody>
      </p:sp>
      <p:sp>
        <p:nvSpPr>
          <p:cNvPr id="5" name="title-睡眠领域包含 2 条可展开需求">
            <a:extLst xmlns:a="http://schemas.openxmlformats.org/drawingml/2006/main">
              <a:ext uri="{FF2B5EF4-FFF2-40B4-BE49-F238E27FC236}">
                <a16:creationId xmlns:a16="http://schemas.microsoft.com/office/drawing/2014/main" id="{9EF4E68E-1AB1-4F2B-A139-FB42C39B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睡眠领域包含 2 条可展开需求</a:t>
            </a:r>
          </a:p>
        </p:txBody>
      </p:sp>
      <p:sp>
        <p:nvSpPr>
          <p:cNvPr id="6" name="subtitle-睡眠领域包含 2 条可展开需求">
            <a:extLst xmlns:a="http://schemas.openxmlformats.org/drawingml/2006/main">
              <a:ext uri="{FF2B5EF4-FFF2-40B4-BE49-F238E27FC236}">
                <a16:creationId xmlns:a16="http://schemas.microsoft.com/office/drawing/2014/main" id="{84989D9F-547B-4D59-8FE4-9A0AD6B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0808B"/>
                </a:solidFill>
              </a:defRPr>
            </a:pPr>
            <a:r>
              <a:rPr sz="1275" b="0" i="0">
                <a:solidFill>
                  <a:srgbClr val="70808B"/>
                </a:solidFill>
              </a:rPr>
              <a:t>健康基础 · 2027年3月 · 工作量合计 2 人月</a:t>
            </a:r>
          </a:p>
        </p:txBody>
      </p:sp>
      <p:sp>
        <p:nvSpPr>
          <p:cNvPr id="7" name="detail-card-1">
            <a:extLst xmlns:a="http://schemas.openxmlformats.org/drawingml/2006/main">
              <a:ext uri="{FF2B5EF4-FFF2-40B4-BE49-F238E27FC236}">
                <a16:creationId xmlns:a16="http://schemas.microsoft.com/office/drawing/2014/main" id="{0F2C7577-1E0E-47CD-BD8A-B87F348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0675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32975-9997-44DF-822C-ED2BB054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C5BB5-F1B2-4197-A5F4-54B0012D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FC533-4B0D-41AC-9F5B-8117887E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76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820"/>
                </a:solidFill>
              </a:defRPr>
            </a:pPr>
            <a:r>
              <a:rPr sz="1950" b="1" i="0">
                <a:solidFill>
                  <a:srgbClr val="101820"/>
                </a:solidFill>
              </a:rPr>
              <a:t>社交时差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35831-EC8F-463B-9DCA-A498CCC5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C5DD3"/>
                </a:solidFill>
              </a:defRPr>
            </a:pPr>
            <a:r>
              <a:rPr sz="975" b="1" i="0">
                <a:solidFill>
                  <a:srgbClr val="6C5DD3"/>
                </a:solidFill>
              </a:rPr>
              <a:t>体验优化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D4B93-46C0-4973-A9D8-5A82043B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808B"/>
                </a:solidFill>
              </a:defRPr>
            </a:pPr>
            <a:r>
              <a:rPr sz="1050" b="1" i="0">
                <a:solidFill>
                  <a:srgbClr val="70808B"/>
                </a:solidFill>
              </a:rPr>
              <a:t>需求描述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14F51-DB16-4E76-A769-84F01DF3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6076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0"/>
                </a:solidFill>
              </a:defRPr>
            </a:pPr>
            <a:r>
              <a:rPr sz="1350" b="0" i="0">
                <a:solidFill>
                  <a:srgbClr val="101820"/>
                </a:solidFill>
              </a:rPr>
              <a:t>评估周末和周内的睡眠规律性，帮助用户理解作息节奏差异。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78940-52EF-443B-8DD8-9AF6F145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596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5C72B-DD88-47F9-8D55-CF8ACC03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工作量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99DFC-F294-41FA-89F0-EDA23CC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</a:defRPr>
            </a:pPr>
            <a:r>
              <a:rPr sz="1350" b="1" i="0">
                <a:solidFill>
                  <a:srgbClr val="101820"/>
                </a:solidFill>
              </a:rPr>
              <a:t>1 人月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BF825-E213-4D81-B336-AB5B20FD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815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0808B"/>
                </a:solidFill>
              </a:defRPr>
            </a:pPr>
            <a:r>
              <a:rPr sz="975" b="1" i="0">
                <a:solidFill>
                  <a:srgbClr val="70808B"/>
                </a:solidFill>
              </a:rPr>
              <a:t>上线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C9141-B640-41AF-A092-74DA4597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6727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</a:defRPr>
            </a:pPr>
            <a:r>
              <a:rPr sz="1350" b="1" i="0">
                <a:solidFill>
                  <a:srgbClr val="101820"/>
                </a:solidFill>
              </a:rPr>
              <a:t>2027.03</a:t>
            </a:r>
          </a:p>
        </p:txBody>
      </p:sp>
      <p:sp>
        <p:nvSpPr>
          <p:cNvPr id="19" name="image-slot">
            <a:extLst xmlns:a="http://schemas.openxmlformats.org/drawingml/2006/main">
              <a:ext uri="{FF2B5EF4-FFF2-40B4-BE49-F238E27FC236}">
                <a16:creationId xmlns:a16="http://schemas.microsoft.com/office/drawing/2014/main" id="{FA64FE8A-D149-4371-ADBC-F734F4BA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33625"/>
            <a:ext cx="3600450" cy="220027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C247E-1E6E-4FFA-9CC9-0F5DDA7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860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3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6D47B-EDDA-4E38-B667-1D741807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241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5E8B8"/>
                </a:solidFill>
              </a:defRPr>
            </a:pPr>
            <a:r>
              <a:rPr sz="2100" b="1" i="0">
                <a:solidFill>
                  <a:srgbClr val="85E8B8"/>
                </a:solidFill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4A28B-FBEA-42C4-92E5-0026B5A0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385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本地图片自动填充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0A697-72C2-412A-BF40-A80E2978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814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FC0CB"/>
                </a:solidFill>
              </a:defRPr>
            </a:pPr>
            <a:r>
              <a:rPr sz="900" b="0" i="0">
                <a:solidFill>
                  <a:srgbClr val="AFC0CB"/>
                </a:solidFill>
              </a:rPr>
              <a:t>最多 5 张 · 保持比例裁切</a:t>
            </a:r>
          </a:p>
        </p:txBody>
      </p:sp>
      <p:sp>
        <p:nvSpPr>
          <p:cNvPr id="24" name="detail-card-2">
            <a:extLst xmlns:a="http://schemas.openxmlformats.org/drawingml/2006/main">
              <a:ext uri="{FF2B5EF4-FFF2-40B4-BE49-F238E27FC236}">
                <a16:creationId xmlns:a16="http://schemas.microsoft.com/office/drawing/2014/main" id="{F0EE7722-89CF-46B8-96C4-45A85D57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360045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7E6E94-2919-49AC-9C24-EE4CB70C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14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0808B"/>
                </a:solidFill>
              </a:defRPr>
            </a:pPr>
            <a:r>
              <a:rPr sz="900" b="1" i="0">
                <a:solidFill>
                  <a:srgbClr val="70808B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E8A7EC-DCE8-441C-87BC-E6B086EC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38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</a:defRPr>
            </a:pPr>
            <a:r>
              <a:rPr sz="1500" b="1" i="0">
                <a:solidFill>
                  <a:srgbClr val="101820"/>
                </a:solidFill>
              </a:rPr>
              <a:t>体动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4EDA46-9641-4E05-9819-3E5B6B5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101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70808B"/>
                </a:solidFill>
              </a:defRPr>
            </a:pPr>
            <a:r>
              <a:rPr sz="975" b="0" i="1">
                <a:solidFill>
                  <a:srgbClr val="70808B"/>
                </a:solidFill>
              </a:rPr>
              <a:t>描述待补充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9EAB5D-532D-425B-B36D-4D42B691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815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01820"/>
                </a:solidFill>
              </a:defRPr>
            </a:pPr>
            <a:r>
              <a:rPr sz="1200" b="1" i="0">
                <a:solidFill>
                  <a:srgbClr val="101820"/>
                </a:solidFill>
              </a:rPr>
              <a:t>1 人月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61D5B2-C1B0-47B2-9F5D-9A71A98A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0808B"/>
                </a:solidFill>
              </a:defRPr>
            </a:pPr>
            <a:r>
              <a:rPr sz="1050" b="0" i="0">
                <a:solidFill>
                  <a:srgbClr val="70808B"/>
                </a:solidFill>
              </a:rPr>
              <a:t>详情页规则：描述为空时保留“待补充”；有图时优先使用右侧视觉区。</a:t>
            </a:r>
          </a:p>
        </p:txBody>
      </p:sp>
    </p:spTree>
    <p:extLst>
      <p:ext uri="{BB962C8B-B14F-4D97-AF65-F5344CB8AC3E}">
        <p14:creationId xmlns:p14="http://schemas.microsoft.com/office/powerpoint/2010/main" val="586825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brand-6">
            <a:extLst xmlns:a="http://schemas.openxmlformats.org/drawingml/2006/main">
              <a:ext uri="{FF2B5EF4-FFF2-40B4-BE49-F238E27FC236}">
                <a16:creationId xmlns:a16="http://schemas.microsoft.com/office/drawing/2014/main" id="{C7ABD2FF-BD9E-4FFC-AD65-BDA9FEF9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FC0CB"/>
                </a:solidFill>
              </a:defRPr>
            </a:pPr>
            <a:r>
              <a:rPr sz="975" b="1" i="0">
                <a:solidFill>
                  <a:srgbClr val="AFC0CB"/>
                </a:solidFill>
              </a:rPr>
              <a:t>需求路标工作台</a:t>
            </a:r>
          </a:p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084201E2-55DB-4E75-8021-EB5EFA33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FC0CB"/>
                </a:solidFill>
              </a:defRPr>
            </a:pPr>
            <a:r>
              <a:rPr sz="975" b="1" i="0">
                <a:solidFill>
                  <a:srgbClr val="AFC0CB"/>
                </a:solidFill>
              </a:rPr>
              <a:t>模板确认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9B72AD41-4AAB-43E3-9C73-A0A99A07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95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eyebrow-确认这 4 类页面后，工作台将按同一规范持续输出">
            <a:extLst xmlns:a="http://schemas.openxmlformats.org/drawingml/2006/main">
              <a:ext uri="{FF2B5EF4-FFF2-40B4-BE49-F238E27FC236}">
                <a16:creationId xmlns:a16="http://schemas.microsoft.com/office/drawing/2014/main" id="{F816A6D1-41BA-4C13-AA49-37A74ED4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0A978"/>
                </a:solidFill>
              </a:defRPr>
            </a:pPr>
            <a:r>
              <a:rPr sz="975" b="1" i="0">
                <a:solidFill>
                  <a:srgbClr val="30A978"/>
                </a:solidFill>
              </a:rPr>
              <a:t>TEMPLATE REVIEW</a:t>
            </a:r>
          </a:p>
        </p:txBody>
      </p:sp>
      <p:sp>
        <p:nvSpPr>
          <p:cNvPr id="5" name="title-确认这 4 类页面后，工作台将按同一规范持续输出">
            <a:extLst xmlns:a="http://schemas.openxmlformats.org/drawingml/2006/main">
              <a:ext uri="{FF2B5EF4-FFF2-40B4-BE49-F238E27FC236}">
                <a16:creationId xmlns:a16="http://schemas.microsoft.com/office/drawing/2014/main" id="{505CE280-2317-43F6-AE8E-9E80A1F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确认这 4 类页面后，工作台将按同一规范持续输出</a:t>
            </a:r>
          </a:p>
        </p:txBody>
      </p:sp>
      <p:sp>
        <p:nvSpPr>
          <p:cNvPr id="6" name="subtitle-确认这 4 类页面后，工作台将按同一规范持续输出">
            <a:extLst xmlns:a="http://schemas.openxmlformats.org/drawingml/2006/main">
              <a:ext uri="{FF2B5EF4-FFF2-40B4-BE49-F238E27FC236}">
                <a16:creationId xmlns:a16="http://schemas.microsoft.com/office/drawing/2014/main" id="{D2ADDBDF-B2E5-4A5A-8A23-187DD679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6C5CF"/>
                </a:solidFill>
              </a:defRPr>
            </a:pPr>
            <a:r>
              <a:rPr sz="1275" b="0" i="0">
                <a:solidFill>
                  <a:srgbClr val="B6C5CF"/>
                </a:solidFill>
              </a:rPr>
              <a:t>v0.1 用于共同修改；确认后设为内置模板，不再要求导入 PPTX。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C3AF3-1124-437D-8ABA-75705A1B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2505075" cy="140017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1313D"/>
          </a:solidFill>
          <a:ln xmlns:a="http://schemas.openxmlformats.org/drawingml/2006/main" w="9525">
            <a:solidFill>
              <a:srgbClr val="3447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5A14E-ED12-4938-9C71-1B1F3DBB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5E8B8"/>
                </a:solidFill>
              </a:defRPr>
            </a:pPr>
            <a:r>
              <a:rPr sz="975" b="1" i="0">
                <a:solidFill>
                  <a:srgbClr val="85E8B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8EFB5-0835-4166-933D-F092488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汇总分析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AE309-8FB4-413F-9486-1C3114D2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0CB"/>
                </a:solidFill>
              </a:defRPr>
            </a:pPr>
            <a:r>
              <a:rPr sz="975" b="0" i="0">
                <a:solidFill>
                  <a:srgbClr val="AFC0CB"/>
                </a:solidFill>
              </a:rPr>
              <a:t>指标与月份节奏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FD404-C087-4A1A-AFF6-CE2B55A9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81275"/>
            <a:ext cx="2505075" cy="140017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1313D"/>
          </a:solidFill>
          <a:ln xmlns:a="http://schemas.openxmlformats.org/drawingml/2006/main" w="9525">
            <a:solidFill>
              <a:srgbClr val="3447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2FB80-A71D-4177-9D84-16F95460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908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5E8B8"/>
                </a:solidFill>
              </a:defRPr>
            </a:pPr>
            <a:r>
              <a:rPr sz="975" b="1" i="0">
                <a:solidFill>
                  <a:srgbClr val="85E8B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700B8-EB68-43CD-9F33-16A7D887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05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运动路标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05FAC-D400-4D2C-A688-03A2000C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33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0CB"/>
                </a:solidFill>
              </a:defRPr>
            </a:pPr>
            <a:r>
              <a:rPr sz="975" b="0" i="0">
                <a:solidFill>
                  <a:srgbClr val="AFC0CB"/>
                </a:solidFill>
              </a:rPr>
              <a:t>三级泳道与空状态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6340C-0372-4059-A3F9-7618819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81275"/>
            <a:ext cx="2505075" cy="140017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1313D"/>
          </a:solidFill>
          <a:ln xmlns:a="http://schemas.openxmlformats.org/drawingml/2006/main" w="9525">
            <a:solidFill>
              <a:srgbClr val="3447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93BB9-2D49-4ECA-8C91-747E1960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908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5E8B8"/>
                </a:solidFill>
              </a:defRPr>
            </a:pPr>
            <a:r>
              <a:rPr sz="975" b="1" i="0">
                <a:solidFill>
                  <a:srgbClr val="85E8B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D7E2E-8749-47E5-B2B0-F7CD133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健康路标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C7B1D-00CE-4044-8A3C-DE70D84B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33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0CB"/>
                </a:solidFill>
              </a:defRPr>
            </a:pPr>
            <a:r>
              <a:rPr sz="975" b="0" i="0">
                <a:solidFill>
                  <a:srgbClr val="AFC0CB"/>
                </a:solidFill>
              </a:rPr>
              <a:t>自动合并与卡片摘要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345D7-1D3B-45F6-A9DE-78087E95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81275"/>
            <a:ext cx="2505075" cy="140017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1313D"/>
          </a:solidFill>
          <a:ln xmlns:a="http://schemas.openxmlformats.org/drawingml/2006/main" w="9525">
            <a:solidFill>
              <a:srgbClr val="3447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E65DF-6171-45F1-8407-681744B0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908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5E8B8"/>
                </a:solidFill>
              </a:defRPr>
            </a:pPr>
            <a:r>
              <a:rPr sz="975" b="1" i="0">
                <a:solidFill>
                  <a:srgbClr val="85E8B8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8F978-3837-4F6C-83B0-8602D6D0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领域详情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FB9F8-DE45-4F31-B418-5538F0B6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33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0CB"/>
                </a:solidFill>
              </a:defRPr>
            </a:pPr>
            <a:r>
              <a:rPr sz="975" b="0" i="0">
                <a:solidFill>
                  <a:srgbClr val="AFC0CB"/>
                </a:solidFill>
              </a:rPr>
              <a:t>需求描述与本地图片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D1F9D0-55AA-414D-8206-EB71EE18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需要一起确认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8F965-6852-45EF-AF1F-A6958B6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E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48D3DC-86AB-4AC5-8E42-D12C792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字体与颜色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6582E-2C76-44ED-AA9E-76B37D16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143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E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F9291D-D3BD-43FB-B7A5-5F5227EB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673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信息密度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C6E28-2AFC-45B0-A033-F7F370C8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43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E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B05DE-E98F-4099-9BB3-99881816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图片呈现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BABB2D-7E7C-4749-81FD-1518ECE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143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E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91B814-F232-4843-ABAA-742E8EAB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0673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详情页拆分规则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6BCD6A-CA05-407B-A151-6F660B7C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1939F"/>
                </a:solidFill>
              </a:defRPr>
            </a:pPr>
            <a:r>
              <a:rPr sz="975" b="0" i="0">
                <a:solidFill>
                  <a:srgbClr val="81939F"/>
                </a:solidFill>
              </a:rPr>
              <a:t>下一版只改模板，不改历史需求数据。</a:t>
            </a:r>
          </a:p>
        </p:txBody>
      </p:sp>
    </p:spTree>
    <p:extLst>
      <p:ext uri="{BB962C8B-B14F-4D97-AF65-F5344CB8AC3E}">
        <p14:creationId xmlns:p14="http://schemas.microsoft.com/office/powerpoint/2010/main" val="276806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2026-08-19T08:21:46.0310000Z</dcterms:created>
  <dcterms:modified xsi:type="dcterms:W3CDTF">2026-08-19T08:21:46.0310000Z</dcterms:modified>
</coreProperties>
</file>